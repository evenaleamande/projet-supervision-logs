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F4A896"/>
          </a:solidFill>
          <a:ln w="12700">
            <a:solidFill>
              <a:srgbClr val="F4A896"/>
            </a:solidFill>
            <a:prstDash val="solid"/>
          </a:ln>
        </p:spPr>
      </p:sp>
      <p:sp>
        <p:nvSpPr>
          <p:cNvPr id="3" name="Text 1"/>
          <p:cNvSpPr/>
          <p:nvPr/>
        </p:nvSpPr>
        <p:spPr>
          <a:xfrm>
            <a:off x="182880" y="182880"/>
            <a:ext cx="8778240" cy="822960"/>
          </a:xfrm>
          <a:prstGeom prst="rect">
            <a:avLst/>
          </a:prstGeom>
          <a:noFill/>
          <a:ln/>
        </p:spPr>
        <p:txBody>
          <a:bodyPr wrap="square" rtlCol="0" anchor="ctr"/>
          <a:lstStyle/>
          <a:p>
            <a:pPr algn="ctr" indent="0" marL="0">
              <a:buNone/>
            </a:pPr>
            <a:r>
              <a:rPr lang="en-US" sz="2400" b="1" dirty="0">
                <a:solidFill>
                  <a:srgbClr val="1A1A1A"/>
                </a:solidFill>
                <a:latin typeface="Calibri" pitchFamily="34" charset="0"/>
                <a:ea typeface="Calibri" pitchFamily="34" charset="-122"/>
                <a:cs typeface="Calibri" pitchFamily="34" charset="-120"/>
              </a:rPr>
              <a:t>FACULTÉ DES SCIENCES ET DES TECHNOLOGIES (FST)</a:t>
            </a:r>
            <a:endParaRPr lang="en-US" sz="2400" dirty="0"/>
          </a:p>
        </p:txBody>
      </p:sp>
      <p:sp>
        <p:nvSpPr>
          <p:cNvPr id="4" name="Shape 2"/>
          <p:cNvSpPr/>
          <p:nvPr/>
        </p:nvSpPr>
        <p:spPr>
          <a:xfrm>
            <a:off x="2926080" y="1371600"/>
            <a:ext cx="0" cy="3017520"/>
          </a:xfrm>
          <a:prstGeom prst="line">
            <a:avLst/>
          </a:prstGeom>
          <a:noFill/>
          <a:ln w="25400">
            <a:solidFill>
              <a:srgbClr val="E07060"/>
            </a:solidFill>
            <a:prstDash val="solid"/>
          </a:ln>
        </p:spPr>
      </p:sp>
      <p:sp>
        <p:nvSpPr>
          <p:cNvPr id="5" name="Text 3"/>
          <p:cNvSpPr/>
          <p:nvPr/>
        </p:nvSpPr>
        <p:spPr>
          <a:xfrm>
            <a:off x="457200" y="1645920"/>
            <a:ext cx="22860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Par:</a:t>
            </a:r>
            <a:endParaRPr lang="en-US" sz="1400" dirty="0"/>
          </a:p>
        </p:txBody>
      </p:sp>
      <p:sp>
        <p:nvSpPr>
          <p:cNvPr id="6" name="Text 4"/>
          <p:cNvSpPr/>
          <p:nvPr/>
        </p:nvSpPr>
        <p:spPr>
          <a:xfrm>
            <a:off x="3200400" y="1737360"/>
            <a:ext cx="5669280" cy="1097280"/>
          </a:xfrm>
          <a:prstGeom prst="rect">
            <a:avLst/>
          </a:prstGeom>
          <a:noFill/>
          <a:ln/>
        </p:spPr>
        <p:txBody>
          <a:bodyPr wrap="square"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Supervision et Gestion des Logs</a:t>
            </a:r>
            <a:endParaRPr lang="en-US" sz="1800" dirty="0"/>
          </a:p>
          <a:p>
            <a:pPr indent="0" marL="0">
              <a:buNone/>
            </a:pPr>
            <a:r>
              <a:rPr lang="en-US" sz="1800" b="1" dirty="0">
                <a:solidFill>
                  <a:srgbClr val="1A1A1A"/>
                </a:solidFill>
                <a:latin typeface="Calibri" pitchFamily="34" charset="0"/>
                <a:ea typeface="Calibri" pitchFamily="34" charset="-122"/>
                <a:cs typeface="Calibri" pitchFamily="34" charset="-120"/>
              </a:rPr>
              <a:t>sous Ubuntu Linux</a:t>
            </a:r>
            <a:endParaRPr lang="en-US" sz="1800" dirty="0"/>
          </a:p>
        </p:txBody>
      </p:sp>
      <p:sp>
        <p:nvSpPr>
          <p:cNvPr id="7" name="Text 5"/>
          <p:cNvSpPr/>
          <p:nvPr/>
        </p:nvSpPr>
        <p:spPr>
          <a:xfrm>
            <a:off x="5943600" y="3840480"/>
            <a:ext cx="2926080" cy="365760"/>
          </a:xfrm>
          <a:prstGeom prst="rect">
            <a:avLst/>
          </a:prstGeom>
          <a:noFill/>
          <a:ln/>
        </p:spPr>
        <p:txBody>
          <a:bodyPr wrap="square" rtlCol="0" anchor="ctr"/>
          <a:lstStyle/>
          <a:p>
            <a:pPr algn="r" indent="0" marL="0">
              <a:buNone/>
            </a:pPr>
            <a:r>
              <a:rPr lang="en-US" sz="1400" dirty="0">
                <a:solidFill>
                  <a:srgbClr val="1A1A1A"/>
                </a:solidFill>
                <a:latin typeface="Calibri" pitchFamily="34" charset="0"/>
                <a:ea typeface="Calibri" pitchFamily="34" charset="-122"/>
                <a:cs typeface="Calibri" pitchFamily="34" charset="-120"/>
              </a:rPr>
              <a:t>Jacmel 2026</a:t>
            </a:r>
            <a:endParaRPr lang="en-US" sz="1400" dirty="0"/>
          </a:p>
        </p:txBody>
      </p:sp>
      <p:sp>
        <p:nvSpPr>
          <p:cNvPr id="8" name="Shape 6"/>
          <p:cNvSpPr/>
          <p:nvPr/>
        </p:nvSpPr>
        <p:spPr>
          <a:xfrm>
            <a:off x="0" y="4754880"/>
            <a:ext cx="9144000" cy="388620"/>
          </a:xfrm>
          <a:prstGeom prst="rect">
            <a:avLst/>
          </a:prstGeom>
          <a:solidFill>
            <a:srgbClr val="7B2D00"/>
          </a:solidFill>
          <a:ln w="12700">
            <a:solidFill>
              <a:srgbClr val="7B2D00"/>
            </a:solidFill>
            <a:prstDash val="solid"/>
          </a:ln>
        </p:spPr>
      </p:sp>
      <p:sp>
        <p:nvSpPr>
          <p:cNvPr id="9" name="Text 7"/>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10" name="Text 8"/>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9"/>
          <p:cNvSpPr/>
          <p:nvPr/>
        </p:nvSpPr>
        <p:spPr>
          <a:xfrm>
            <a:off x="8046720" y="4023360"/>
            <a:ext cx="822960" cy="640080"/>
          </a:xfrm>
          <a:prstGeom prst="rect">
            <a:avLst/>
          </a:prstGeom>
          <a:solidFill>
            <a:srgbClr val="1A5276"/>
          </a:solidFill>
          <a:ln w="12700">
            <a:solidFill>
              <a:srgbClr val="1A5276"/>
            </a:solidFill>
            <a:prstDash val="solid"/>
          </a:ln>
        </p:spPr>
      </p:sp>
      <p:sp>
        <p:nvSpPr>
          <p:cNvPr id="12" name="Text 10"/>
          <p:cNvSpPr/>
          <p:nvPr/>
        </p:nvSpPr>
        <p:spPr>
          <a:xfrm>
            <a:off x="8046720" y="4114800"/>
            <a:ext cx="82296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IUS</a:t>
            </a:r>
            <a:endParaRPr lang="en-US" sz="1300" dirty="0"/>
          </a:p>
        </p:txBody>
      </p:sp>
      <p:sp>
        <p:nvSpPr>
          <p:cNvPr id="13" name="Text 11"/>
          <p:cNvSpPr/>
          <p:nvPr/>
        </p:nvSpPr>
        <p:spPr>
          <a:xfrm>
            <a:off x="7589520" y="3950208"/>
            <a:ext cx="1371600" cy="411480"/>
          </a:xfrm>
          <a:prstGeom prst="rect">
            <a:avLst/>
          </a:prstGeom>
          <a:noFill/>
          <a:ln/>
        </p:spPr>
        <p:txBody>
          <a:bodyPr wrap="square" rtlCol="0" anchor="ctr"/>
          <a:lstStyle/>
          <a:p>
            <a:pPr algn="ctr" indent="0" marL="0">
              <a:buNone/>
            </a:pPr>
            <a:r>
              <a:rPr lang="en-US" sz="550" dirty="0">
                <a:solidFill>
                  <a:srgbClr val="1A5276"/>
                </a:solidFill>
                <a:latin typeface="Calibri" pitchFamily="34" charset="0"/>
                <a:ea typeface="Calibri" pitchFamily="34" charset="-122"/>
                <a:cs typeface="Calibri" pitchFamily="34" charset="-120"/>
              </a:rPr>
              <a:t>Institut Universitaire des Sciences</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Introduction</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73152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Aujourd'hui, les ordinateurs et les serveurs enregistrent automatiquement tout ce qui se passe sur le réseau. Ces enregistrements s'appellent des </a:t>
            </a:r>
            <a:pPr indent="0" marL="0">
              <a:buNone/>
            </a:pPr>
            <a:r>
              <a:rPr lang="en-US" sz="1300" b="1" dirty="0">
                <a:solidFill>
                  <a:srgbClr val="1A1A1A"/>
                </a:solidFill>
                <a:latin typeface="Calibri" pitchFamily="34" charset="0"/>
                <a:ea typeface="Calibri" pitchFamily="34" charset="-122"/>
                <a:cs typeface="Calibri" pitchFamily="34" charset="-120"/>
              </a:rPr>
              <a:t>logs</a:t>
            </a:r>
            <a:pPr indent="0" marL="0">
              <a:buNone/>
            </a:pPr>
            <a:r>
              <a:rPr lang="en-US" sz="1300" dirty="0">
                <a:solidFill>
                  <a:srgbClr val="1A1A1A"/>
                </a:solidFill>
                <a:latin typeface="Calibri" pitchFamily="34" charset="0"/>
                <a:ea typeface="Calibri" pitchFamily="34" charset="-122"/>
                <a:cs typeface="Calibri" pitchFamily="34" charset="-120"/>
              </a:rPr>
              <a:t> (ou journaux système). Ils notent qui s'est connecté, quelles erreurs se sont produites et quels services ont démarré ou se sont arrêtés.</a:t>
            </a:r>
            <a:endParaRPr lang="en-US" sz="1300" dirty="0"/>
          </a:p>
        </p:txBody>
      </p:sp>
      <p:sp>
        <p:nvSpPr>
          <p:cNvPr id="12" name="Text 10"/>
          <p:cNvSpPr/>
          <p:nvPr/>
        </p:nvSpPr>
        <p:spPr>
          <a:xfrm>
            <a:off x="365760" y="2011680"/>
            <a:ext cx="8412480" cy="6858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Un serveur peut générer des milliers de lignes de logs chaque jour. Il est donc impossible de les lire manuellement. C'est pourquoi il faut des outils qui collectent, organisent et surveillent ces logs de façon automatique.</a:t>
            </a:r>
            <a:endParaRPr lang="en-US" sz="1300" dirty="0"/>
          </a:p>
        </p:txBody>
      </p:sp>
      <p:sp>
        <p:nvSpPr>
          <p:cNvPr id="13" name="Text 11"/>
          <p:cNvSpPr/>
          <p:nvPr/>
        </p:nvSpPr>
        <p:spPr>
          <a:xfrm>
            <a:off x="365760" y="2788920"/>
            <a:ext cx="8412480" cy="6858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Ce projet final met en place un système complet de supervision des logs sur Ubuntu 22.04, avec deux machines virtuelles connectées entre elles par le réseau. La machine WEB1 produit des logs et les envoie à WEB2 qui les reçoit et les stocke.</a:t>
            </a:r>
            <a:endParaRPr lang="en-US" sz="1300" dirty="0"/>
          </a:p>
        </p:txBody>
      </p:sp>
      <p:sp>
        <p:nvSpPr>
          <p:cNvPr id="14" name="Text 12"/>
          <p:cNvSpPr/>
          <p:nvPr/>
        </p:nvSpPr>
        <p:spPr>
          <a:xfrm>
            <a:off x="365760" y="3566160"/>
            <a:ext cx="8412480" cy="6858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Les outils utilisés sont rsyslog (collecte et transfert des logs), journalctl (lecture des journaux) et logrotate (gestion de l'espace disque par rotation automatique des fichiers).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Objectifs du projet</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365760"/>
          </a:xfrm>
          <a:prstGeom prst="rect">
            <a:avLst/>
          </a:prstGeom>
          <a:noFill/>
          <a:ln/>
        </p:spPr>
        <p:txBody>
          <a:bodyPr wrap="square" rtlCol="0" anchor="ctr"/>
          <a:lstStyle/>
          <a:p>
            <a:pPr indent="0" marL="0">
              <a:buNone/>
            </a:pPr>
            <a:r>
              <a:rPr lang="en-US" sz="1500" b="1" dirty="0">
                <a:solidFill>
                  <a:srgbClr val="7B2D00"/>
                </a:solidFill>
                <a:latin typeface="Calibri" pitchFamily="34" charset="0"/>
                <a:ea typeface="Calibri" pitchFamily="34" charset="-122"/>
                <a:cs typeface="Calibri" pitchFamily="34" charset="-120"/>
              </a:rPr>
              <a:t>Objectif principal</a:t>
            </a:r>
            <a:endParaRPr lang="en-US" sz="1500" dirty="0"/>
          </a:p>
        </p:txBody>
      </p:sp>
      <p:sp>
        <p:nvSpPr>
          <p:cNvPr id="12" name="Text 10"/>
          <p:cNvSpPr/>
          <p:nvPr/>
        </p:nvSpPr>
        <p:spPr>
          <a:xfrm>
            <a:off x="365760" y="1645920"/>
            <a:ext cx="8412480" cy="50292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Mettre en place un système complet qui permet de collecter, centraliser, surveiller et gérer les logs de deux machines Ubuntu connectées en réseau.</a:t>
            </a:r>
            <a:endParaRPr lang="en-US" sz="1300" dirty="0"/>
          </a:p>
        </p:txBody>
      </p:sp>
      <p:sp>
        <p:nvSpPr>
          <p:cNvPr id="13" name="Text 11"/>
          <p:cNvSpPr/>
          <p:nvPr/>
        </p:nvSpPr>
        <p:spPr>
          <a:xfrm>
            <a:off x="365760" y="2240280"/>
            <a:ext cx="8412480" cy="365760"/>
          </a:xfrm>
          <a:prstGeom prst="rect">
            <a:avLst/>
          </a:prstGeom>
          <a:noFill/>
          <a:ln/>
        </p:spPr>
        <p:txBody>
          <a:bodyPr wrap="square" rtlCol="0" anchor="ctr"/>
          <a:lstStyle/>
          <a:p>
            <a:pPr indent="0" marL="0">
              <a:buNone/>
            </a:pPr>
            <a:r>
              <a:rPr lang="en-US" sz="1500" b="1" dirty="0">
                <a:solidFill>
                  <a:srgbClr val="7B2D00"/>
                </a:solidFill>
                <a:latin typeface="Calibri" pitchFamily="34" charset="0"/>
                <a:ea typeface="Calibri" pitchFamily="34" charset="-122"/>
                <a:cs typeface="Calibri" pitchFamily="34" charset="-120"/>
              </a:rPr>
              <a:t>Objectifs spécifiques</a:t>
            </a:r>
            <a:endParaRPr lang="en-US" sz="1500" dirty="0"/>
          </a:p>
        </p:txBody>
      </p:sp>
      <p:sp>
        <p:nvSpPr>
          <p:cNvPr id="14" name="Text 12"/>
          <p:cNvSpPr/>
          <p:nvPr/>
        </p:nvSpPr>
        <p:spPr>
          <a:xfrm>
            <a:off x="457200" y="2651760"/>
            <a:ext cx="8321040" cy="1920240"/>
          </a:xfrm>
          <a:prstGeom prst="rect">
            <a:avLst/>
          </a:prstGeom>
          <a:noFill/>
          <a:ln/>
        </p:spPr>
        <p:txBody>
          <a:bodyPr wrap="square" rtlCol="0" anchor="ctr"/>
          <a:lstStyle/>
          <a:p>
            <a:pPr marL="342900" indent="-342900">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Configurer rsyslog sur WEB1 pour envoyer les logs vers WEB2 via le réseau (port 514/UDP).</a:t>
            </a:r>
            <a:endParaRPr lang="en-US" sz="1250" dirty="0"/>
          </a:p>
          <a:p>
            <a:pPr marL="342900" indent="-342900">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Ouvrir le port 514 avec le pare-feu UFW pour autoriser la communication entre les deux machines.</a:t>
            </a:r>
            <a:endParaRPr lang="en-US" sz="1250" dirty="0"/>
          </a:p>
          <a:p>
            <a:pPr marL="342900" indent="-342900">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Utiliser journalctl pour lire, filtrer et analyser les journaux système en temps réel.</a:t>
            </a:r>
            <a:endParaRPr lang="en-US" sz="1250" dirty="0"/>
          </a:p>
          <a:p>
            <a:pPr marL="342900" indent="-342900">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Configurer logrotate pour archiver et supprimer automatiquement les anciens logs.</a:t>
            </a:r>
            <a:endParaRPr lang="en-US" sz="1250" dirty="0"/>
          </a:p>
          <a:p>
            <a:pPr marL="342900" indent="-342900">
              <a:spcAft>
                <a:spcPts val="400"/>
              </a:spcAft>
              <a:buSzPct val="100000"/>
              <a:buChar char="•"/>
            </a:pPr>
            <a:r>
              <a:rPr lang="en-US" sz="1250" dirty="0">
                <a:solidFill>
                  <a:srgbClr val="1A1A1A"/>
                </a:solidFill>
                <a:latin typeface="Calibri" pitchFamily="34" charset="0"/>
                <a:ea typeface="Calibri" pitchFamily="34" charset="-122"/>
                <a:cs typeface="Calibri" pitchFamily="34" charset="-120"/>
              </a:rPr>
              <a:t>Tester le bon fonctionnement du transfert des logs avec la commande logger.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Problématique</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Dans un environnement informatique, les serveurs génèrent chaque jour un très grand nombre de messages. Sans outil de surveillance, un administrateur ne peut pas savoir si une erreur s'est produite, si quelqu'un a essayé de s'introduire dans le système, ou si un service a cessé de fonctionner.</a:t>
            </a:r>
            <a:endParaRPr lang="en-US" sz="1300" dirty="0"/>
          </a:p>
        </p:txBody>
      </p:sp>
      <p:sp>
        <p:nvSpPr>
          <p:cNvPr id="12" name="Text 10"/>
          <p:cNvSpPr/>
          <p:nvPr/>
        </p:nvSpPr>
        <p:spPr>
          <a:xfrm>
            <a:off x="365760" y="2148840"/>
            <a:ext cx="8412480" cy="77724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De plus, lorsqu'on a plusieurs machines sur un même réseau, les logs sont éparpillés sur chaque serveur. L'administrateur doit donc se connecter à chaque machine séparément pour consulter les journaux, ce qui fait perdre beaucoup de temps.</a:t>
            </a:r>
            <a:endParaRPr lang="en-US" sz="1300" dirty="0"/>
          </a:p>
        </p:txBody>
      </p:sp>
      <p:sp>
        <p:nvSpPr>
          <p:cNvPr id="13" name="Text 11"/>
          <p:cNvSpPr/>
          <p:nvPr/>
        </p:nvSpPr>
        <p:spPr>
          <a:xfrm>
            <a:off x="365760" y="2999232"/>
            <a:ext cx="8412480" cy="868680"/>
          </a:xfrm>
          <a:prstGeom prst="rect">
            <a:avLst/>
          </a:prstGeom>
          <a:noFill/>
          <a:ln/>
        </p:spPr>
        <p:txBody>
          <a:bodyPr wrap="square"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La question principale de ce projet est donc : Comment mettre en place un système simple et efficace pour collecter, centraliser et surveiller les logs de plusieurs machines Ubuntu, afin de détecter rapidement les problèmes et de garder une trace de toutes les activités du réseau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Méthodologie</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50292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1. Préparation des machines — </a:t>
            </a:r>
            <a:pPr indent="0" marL="0">
              <a:buNone/>
            </a:pPr>
            <a:r>
              <a:rPr lang="en-US" sz="1200" dirty="0">
                <a:solidFill>
                  <a:srgbClr val="1A1A1A"/>
                </a:solidFill>
                <a:latin typeface="Calibri" pitchFamily="34" charset="0"/>
                <a:ea typeface="Calibri" pitchFamily="34" charset="-122"/>
                <a:cs typeface="Calibri" pitchFamily="34" charset="-120"/>
              </a:rPr>
              <a:t>Installer Ubuntu 22.04 sur deux machines virtuelles (WEB1 et WEB2) et les connecter en réseau via VirtualBox.</a:t>
            </a:r>
            <a:endParaRPr lang="en-US" sz="1200" dirty="0"/>
          </a:p>
        </p:txBody>
      </p:sp>
      <p:sp>
        <p:nvSpPr>
          <p:cNvPr id="12" name="Text 10"/>
          <p:cNvSpPr/>
          <p:nvPr/>
        </p:nvSpPr>
        <p:spPr>
          <a:xfrm>
            <a:off x="365760" y="1801368"/>
            <a:ext cx="8412480" cy="50292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2. Configuration de rsyslog — </a:t>
            </a:r>
            <a:pPr indent="0" marL="0">
              <a:buNone/>
            </a:pPr>
            <a:r>
              <a:rPr lang="en-US" sz="1200" dirty="0">
                <a:solidFill>
                  <a:srgbClr val="1A1A1A"/>
                </a:solidFill>
                <a:latin typeface="Calibri" pitchFamily="34" charset="0"/>
                <a:ea typeface="Calibri" pitchFamily="34" charset="-122"/>
                <a:cs typeface="Calibri" pitchFamily="34" charset="-120"/>
              </a:rPr>
              <a:t>Configurer rsyslog sur WEB1 pour envoyer ses logs vers WEB2, et configurer WEB2 pour les recevoir et les stocker dans un fichier central.</a:t>
            </a:r>
            <a:endParaRPr lang="en-US" sz="1200" dirty="0"/>
          </a:p>
        </p:txBody>
      </p:sp>
      <p:sp>
        <p:nvSpPr>
          <p:cNvPr id="13" name="Text 11"/>
          <p:cNvSpPr/>
          <p:nvPr/>
        </p:nvSpPr>
        <p:spPr>
          <a:xfrm>
            <a:off x="365760" y="2368296"/>
            <a:ext cx="8412480" cy="50292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3. Ouverture du pare-feu — </a:t>
            </a:r>
            <a:pPr indent="0" marL="0">
              <a:buNone/>
            </a:pPr>
            <a:r>
              <a:rPr lang="en-US" sz="1200" dirty="0">
                <a:solidFill>
                  <a:srgbClr val="1A1A1A"/>
                </a:solidFill>
                <a:latin typeface="Calibri" pitchFamily="34" charset="0"/>
                <a:ea typeface="Calibri" pitchFamily="34" charset="-122"/>
                <a:cs typeface="Calibri" pitchFamily="34" charset="-120"/>
              </a:rPr>
              <a:t>Autoriser le port 514/UDP sur WEB2 avec la commande : sudo ufw allow 514/udp, pour que WEB1 puisse envoyer ses logs.</a:t>
            </a:r>
            <a:endParaRPr lang="en-US" sz="1200" dirty="0"/>
          </a:p>
        </p:txBody>
      </p:sp>
      <p:sp>
        <p:nvSpPr>
          <p:cNvPr id="14" name="Text 12"/>
          <p:cNvSpPr/>
          <p:nvPr/>
        </p:nvSpPr>
        <p:spPr>
          <a:xfrm>
            <a:off x="365760" y="2935224"/>
            <a:ext cx="8412480" cy="50292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4. Lecture des logs — </a:t>
            </a:r>
            <a:pPr indent="0" marL="0">
              <a:buNone/>
            </a:pPr>
            <a:r>
              <a:rPr lang="en-US" sz="1200" dirty="0">
                <a:solidFill>
                  <a:srgbClr val="1A1A1A"/>
                </a:solidFill>
                <a:latin typeface="Calibri" pitchFamily="34" charset="0"/>
                <a:ea typeface="Calibri" pitchFamily="34" charset="-122"/>
                <a:cs typeface="Calibri" pitchFamily="34" charset="-120"/>
              </a:rPr>
              <a:t>Utiliser journalctl pour lire les logs en temps réel, filtrer par service (SSH, systemd) et par date.</a:t>
            </a:r>
            <a:endParaRPr lang="en-US" sz="1200" dirty="0"/>
          </a:p>
        </p:txBody>
      </p:sp>
      <p:sp>
        <p:nvSpPr>
          <p:cNvPr id="15" name="Text 13"/>
          <p:cNvSpPr/>
          <p:nvPr/>
        </p:nvSpPr>
        <p:spPr>
          <a:xfrm>
            <a:off x="365760" y="3502152"/>
            <a:ext cx="8412480" cy="50292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5. Rotation des logs — </a:t>
            </a:r>
            <a:pPr indent="0" marL="0">
              <a:buNone/>
            </a:pPr>
            <a:r>
              <a:rPr lang="en-US" sz="1200" dirty="0">
                <a:solidFill>
                  <a:srgbClr val="1A1A1A"/>
                </a:solidFill>
                <a:latin typeface="Calibri" pitchFamily="34" charset="0"/>
                <a:ea typeface="Calibri" pitchFamily="34" charset="-122"/>
                <a:cs typeface="Calibri" pitchFamily="34" charset="-120"/>
              </a:rPr>
              <a:t>Créer une règle logrotate pour archiver les logs tous les jours et ne garder que les 7 derniers jours.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Outils et technologies</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6</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188720"/>
            <a:ext cx="8412480" cy="457200"/>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Ubuntu 22.04 LTS : </a:t>
            </a:r>
            <a:pPr indent="0" marL="0">
              <a:buNone/>
            </a:pPr>
            <a:r>
              <a:rPr lang="en-US" sz="1200" dirty="0">
                <a:solidFill>
                  <a:srgbClr val="1A1A1A"/>
                </a:solidFill>
                <a:latin typeface="Calibri" pitchFamily="34" charset="0"/>
                <a:ea typeface="Calibri" pitchFamily="34" charset="-122"/>
                <a:cs typeface="Calibri" pitchFamily="34" charset="-120"/>
              </a:rPr>
              <a:t>Système d'exploitation Linux utilisé sur les deux machines virtuelles WEB1 et WEB2.</a:t>
            </a:r>
            <a:endParaRPr lang="en-US" sz="1200" dirty="0"/>
          </a:p>
        </p:txBody>
      </p:sp>
      <p:sp>
        <p:nvSpPr>
          <p:cNvPr id="12" name="Text 10"/>
          <p:cNvSpPr/>
          <p:nvPr/>
        </p:nvSpPr>
        <p:spPr>
          <a:xfrm>
            <a:off x="365760" y="1700784"/>
            <a:ext cx="8412480" cy="457200"/>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rsyslog : </a:t>
            </a:r>
            <a:pPr indent="0" marL="0">
              <a:buNone/>
            </a:pPr>
            <a:r>
              <a:rPr lang="en-US" sz="1200" dirty="0">
                <a:solidFill>
                  <a:srgbClr val="1A1A1A"/>
                </a:solidFill>
                <a:latin typeface="Calibri" pitchFamily="34" charset="0"/>
                <a:ea typeface="Calibri" pitchFamily="34" charset="-122"/>
                <a:cs typeface="Calibri" pitchFamily="34" charset="-120"/>
              </a:rPr>
              <a:t>Service de gestion des logs sous Linux. Il collecte les journaux de WEB1 et les envoie automatiquement à WEB2 via le réseau (protocole UDP, port 514).</a:t>
            </a:r>
            <a:endParaRPr lang="en-US" sz="1200" dirty="0"/>
          </a:p>
        </p:txBody>
      </p:sp>
      <p:sp>
        <p:nvSpPr>
          <p:cNvPr id="13" name="Text 11"/>
          <p:cNvSpPr/>
          <p:nvPr/>
        </p:nvSpPr>
        <p:spPr>
          <a:xfrm>
            <a:off x="365760" y="2212848"/>
            <a:ext cx="8412480" cy="457200"/>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journalctl : </a:t>
            </a:r>
            <a:pPr indent="0" marL="0">
              <a:buNone/>
            </a:pPr>
            <a:r>
              <a:rPr lang="en-US" sz="1200" dirty="0">
                <a:solidFill>
                  <a:srgbClr val="1A1A1A"/>
                </a:solidFill>
                <a:latin typeface="Calibri" pitchFamily="34" charset="0"/>
                <a:ea typeface="Calibri" pitchFamily="34" charset="-122"/>
                <a:cs typeface="Calibri" pitchFamily="34" charset="-120"/>
              </a:rPr>
              <a:t>Outil en ligne de commande pour lire et filtrer les logs du système en temps réel. Il permet de chercher par service, par date ou par niveau d'erreur.</a:t>
            </a:r>
            <a:endParaRPr lang="en-US" sz="1200" dirty="0"/>
          </a:p>
        </p:txBody>
      </p:sp>
      <p:sp>
        <p:nvSpPr>
          <p:cNvPr id="14" name="Text 12"/>
          <p:cNvSpPr/>
          <p:nvPr/>
        </p:nvSpPr>
        <p:spPr>
          <a:xfrm>
            <a:off x="365760" y="2724912"/>
            <a:ext cx="8412480" cy="457200"/>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logrotate : </a:t>
            </a:r>
            <a:pPr indent="0" marL="0">
              <a:buNone/>
            </a:pPr>
            <a:r>
              <a:rPr lang="en-US" sz="1200" dirty="0">
                <a:solidFill>
                  <a:srgbClr val="1A1A1A"/>
                </a:solidFill>
                <a:latin typeface="Calibri" pitchFamily="34" charset="0"/>
                <a:ea typeface="Calibri" pitchFamily="34" charset="-122"/>
                <a:cs typeface="Calibri" pitchFamily="34" charset="-120"/>
              </a:rPr>
              <a:t>Programme qui gère automatiquement les fichiers de logs : il les archive, les compresse et supprime les plus anciens pour éviter de remplir le disque.</a:t>
            </a:r>
            <a:endParaRPr lang="en-US" sz="1200" dirty="0"/>
          </a:p>
        </p:txBody>
      </p:sp>
      <p:sp>
        <p:nvSpPr>
          <p:cNvPr id="15" name="Text 13"/>
          <p:cNvSpPr/>
          <p:nvPr/>
        </p:nvSpPr>
        <p:spPr>
          <a:xfrm>
            <a:off x="365760" y="3236976"/>
            <a:ext cx="8412480" cy="457200"/>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UFW (Pare-feu) : </a:t>
            </a:r>
            <a:pPr indent="0" marL="0">
              <a:buNone/>
            </a:pPr>
            <a:r>
              <a:rPr lang="en-US" sz="1200" dirty="0">
                <a:solidFill>
                  <a:srgbClr val="1A1A1A"/>
                </a:solidFill>
                <a:latin typeface="Calibri" pitchFamily="34" charset="0"/>
                <a:ea typeface="Calibri" pitchFamily="34" charset="-122"/>
                <a:cs typeface="Calibri" pitchFamily="34" charset="-120"/>
              </a:rPr>
              <a:t>Outil simple pour gérer le pare-feu Ubuntu. Utilisé pour ouvrir le port 514/UDP et permettre la communication entre WEB1 et WEB2.</a:t>
            </a:r>
            <a:endParaRPr lang="en-US" sz="1200" dirty="0"/>
          </a:p>
        </p:txBody>
      </p:sp>
      <p:sp>
        <p:nvSpPr>
          <p:cNvPr id="16" name="Text 14"/>
          <p:cNvSpPr/>
          <p:nvPr/>
        </p:nvSpPr>
        <p:spPr>
          <a:xfrm>
            <a:off x="365760" y="3749040"/>
            <a:ext cx="8412480" cy="457200"/>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VirtualBox : </a:t>
            </a:r>
            <a:pPr indent="0" marL="0">
              <a:buNone/>
            </a:pPr>
            <a:r>
              <a:rPr lang="en-US" sz="1200" dirty="0">
                <a:solidFill>
                  <a:srgbClr val="1A1A1A"/>
                </a:solidFill>
                <a:latin typeface="Calibri" pitchFamily="34" charset="0"/>
                <a:ea typeface="Calibri" pitchFamily="34" charset="-122"/>
                <a:cs typeface="Calibri" pitchFamily="34" charset="-120"/>
              </a:rPr>
              <a:t>Logiciel de virtualisation gratuit utilisé pour créer et connecter les deux machines virtuelles en réseau.</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Description du projet</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7</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4572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Le projet est basé sur deux machines virtuelles Ubuntu 22.04 qui communiquent entre elles via un réseau interne VirtualBox :</a:t>
            </a:r>
            <a:endParaRPr lang="en-US" sz="1300" dirty="0"/>
          </a:p>
        </p:txBody>
      </p:sp>
      <p:sp>
        <p:nvSpPr>
          <p:cNvPr id="12" name="Shape 10"/>
          <p:cNvSpPr/>
          <p:nvPr/>
        </p:nvSpPr>
        <p:spPr>
          <a:xfrm>
            <a:off x="365760" y="1783080"/>
            <a:ext cx="3291840" cy="1737360"/>
          </a:xfrm>
          <a:prstGeom prst="rect">
            <a:avLst/>
          </a:prstGeom>
          <a:solidFill>
            <a:srgbClr val="F4C6BB"/>
          </a:solidFill>
          <a:ln w="19050">
            <a:solidFill>
              <a:srgbClr val="E07060"/>
            </a:solidFill>
            <a:prstDash val="solid"/>
          </a:ln>
        </p:spPr>
      </p:sp>
      <p:sp>
        <p:nvSpPr>
          <p:cNvPr id="13" name="Text 11"/>
          <p:cNvSpPr/>
          <p:nvPr/>
        </p:nvSpPr>
        <p:spPr>
          <a:xfrm>
            <a:off x="457200" y="1828800"/>
            <a:ext cx="3108960" cy="365760"/>
          </a:xfrm>
          <a:prstGeom prst="rect">
            <a:avLst/>
          </a:prstGeom>
          <a:noFill/>
          <a:ln/>
        </p:spPr>
        <p:txBody>
          <a:bodyPr wrap="square" rtlCol="0" anchor="ctr"/>
          <a:lstStyle/>
          <a:p>
            <a:pPr algn="ctr" indent="0" marL="0">
              <a:buNone/>
            </a:pPr>
            <a:r>
              <a:rPr lang="en-US" sz="1300" b="1" dirty="0">
                <a:solidFill>
                  <a:srgbClr val="7B2D00"/>
                </a:solidFill>
                <a:latin typeface="Calibri" pitchFamily="34" charset="0"/>
                <a:ea typeface="Calibri" pitchFamily="34" charset="-122"/>
                <a:cs typeface="Calibri" pitchFamily="34" charset="-120"/>
              </a:rPr>
              <a:t>WEB1 (Machine Cliente)</a:t>
            </a:r>
            <a:endParaRPr lang="en-US" sz="1300" dirty="0"/>
          </a:p>
        </p:txBody>
      </p:sp>
      <p:sp>
        <p:nvSpPr>
          <p:cNvPr id="14" name="Text 12"/>
          <p:cNvSpPr/>
          <p:nvPr/>
        </p:nvSpPr>
        <p:spPr>
          <a:xfrm>
            <a:off x="502920" y="2240280"/>
            <a:ext cx="3017520" cy="118872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 Génère des logs système
</a:t>
            </a:r>
            <a:pPr indent="0" marL="0">
              <a:buNone/>
            </a:pPr>
            <a:r>
              <a:rPr lang="en-US" sz="1150" dirty="0">
                <a:solidFill>
                  <a:srgbClr val="1A1A1A"/>
                </a:solidFill>
                <a:latin typeface="Calibri" pitchFamily="34" charset="0"/>
                <a:ea typeface="Calibri" pitchFamily="34" charset="-122"/>
                <a:cs typeface="Calibri" pitchFamily="34" charset="-120"/>
              </a:rPr>
              <a:t>• rsyslog envoie les logs
</a:t>
            </a:r>
            <a:pPr indent="0" marL="0">
              <a:buNone/>
            </a:pPr>
            <a:r>
              <a:rPr lang="en-US" sz="1150" dirty="0">
                <a:solidFill>
                  <a:srgbClr val="1A1A1A"/>
                </a:solidFill>
                <a:latin typeface="Calibri" pitchFamily="34" charset="0"/>
                <a:ea typeface="Calibri" pitchFamily="34" charset="-122"/>
                <a:cs typeface="Calibri" pitchFamily="34" charset="-120"/>
              </a:rPr>
              <a:t>• IP : 192.168.56.102
</a:t>
            </a:r>
            <a:pPr indent="0" marL="0">
              <a:buNone/>
            </a:pPr>
            <a:r>
              <a:rPr lang="en-US" sz="1150" dirty="0">
                <a:solidFill>
                  <a:srgbClr val="1A1A1A"/>
                </a:solidFill>
                <a:latin typeface="Calibri" pitchFamily="34" charset="0"/>
                <a:ea typeface="Calibri" pitchFamily="34" charset="-122"/>
                <a:cs typeface="Calibri" pitchFamily="34" charset="-120"/>
              </a:rPr>
              <a:t>• Port sortant : 514/UDP</a:t>
            </a:r>
            <a:endParaRPr lang="en-US" sz="1150" dirty="0"/>
          </a:p>
        </p:txBody>
      </p:sp>
      <p:sp>
        <p:nvSpPr>
          <p:cNvPr id="15" name="Shape 13"/>
          <p:cNvSpPr/>
          <p:nvPr/>
        </p:nvSpPr>
        <p:spPr>
          <a:xfrm>
            <a:off x="3749040" y="2560320"/>
            <a:ext cx="1463040" cy="109728"/>
          </a:xfrm>
          <a:prstGeom prst="rect">
            <a:avLst/>
          </a:prstGeom>
          <a:solidFill>
            <a:srgbClr val="7B2D00"/>
          </a:solidFill>
          <a:ln w="12700">
            <a:solidFill>
              <a:srgbClr val="7B2D00"/>
            </a:solidFill>
            <a:prstDash val="solid"/>
          </a:ln>
        </p:spPr>
      </p:sp>
      <p:sp>
        <p:nvSpPr>
          <p:cNvPr id="16" name="Text 14"/>
          <p:cNvSpPr/>
          <p:nvPr/>
        </p:nvSpPr>
        <p:spPr>
          <a:xfrm>
            <a:off x="3703320" y="2331720"/>
            <a:ext cx="1554480" cy="320040"/>
          </a:xfrm>
          <a:prstGeom prst="rect">
            <a:avLst/>
          </a:prstGeom>
          <a:noFill/>
          <a:ln/>
        </p:spPr>
        <p:txBody>
          <a:bodyPr wrap="square" rtlCol="0" anchor="ctr"/>
          <a:lstStyle/>
          <a:p>
            <a:pPr algn="ctr" indent="0" marL="0">
              <a:buNone/>
            </a:pPr>
            <a:r>
              <a:rPr lang="en-US" sz="1100" b="1" dirty="0">
                <a:solidFill>
                  <a:srgbClr val="7B2D00"/>
                </a:solidFill>
                <a:latin typeface="Calibri" pitchFamily="34" charset="0"/>
                <a:ea typeface="Calibri" pitchFamily="34" charset="-122"/>
                <a:cs typeface="Calibri" pitchFamily="34" charset="-120"/>
              </a:rPr>
              <a:t>Logs →</a:t>
            </a:r>
            <a:endParaRPr lang="en-US" sz="1100" dirty="0"/>
          </a:p>
        </p:txBody>
      </p:sp>
      <p:sp>
        <p:nvSpPr>
          <p:cNvPr id="17" name="Text 15"/>
          <p:cNvSpPr/>
          <p:nvPr/>
        </p:nvSpPr>
        <p:spPr>
          <a:xfrm>
            <a:off x="3703320" y="2651760"/>
            <a:ext cx="1554480" cy="274320"/>
          </a:xfrm>
          <a:prstGeom prst="rect">
            <a:avLst/>
          </a:prstGeom>
          <a:noFill/>
          <a:ln/>
        </p:spPr>
        <p:txBody>
          <a:bodyPr wrap="square" rtlCol="0" anchor="ctr"/>
          <a:lstStyle/>
          <a:p>
            <a:pPr algn="ctr" indent="0" marL="0">
              <a:buNone/>
            </a:pPr>
            <a:r>
              <a:rPr lang="en-US" sz="1000" dirty="0">
                <a:solidFill>
                  <a:srgbClr val="7B2D00"/>
                </a:solidFill>
                <a:latin typeface="Calibri" pitchFamily="34" charset="0"/>
                <a:ea typeface="Calibri" pitchFamily="34" charset="-122"/>
                <a:cs typeface="Calibri" pitchFamily="34" charset="-120"/>
              </a:rPr>
              <a:t>Port 514/UDP</a:t>
            </a:r>
            <a:endParaRPr lang="en-US" sz="1000" dirty="0"/>
          </a:p>
        </p:txBody>
      </p:sp>
      <p:sp>
        <p:nvSpPr>
          <p:cNvPr id="18" name="Shape 16"/>
          <p:cNvSpPr/>
          <p:nvPr/>
        </p:nvSpPr>
        <p:spPr>
          <a:xfrm>
            <a:off x="5303520" y="1783080"/>
            <a:ext cx="3474720" cy="1737360"/>
          </a:xfrm>
          <a:prstGeom prst="rect">
            <a:avLst/>
          </a:prstGeom>
          <a:solidFill>
            <a:srgbClr val="C8E6C9"/>
          </a:solidFill>
          <a:ln w="19050">
            <a:solidFill>
              <a:srgbClr val="2E7D32"/>
            </a:solidFill>
            <a:prstDash val="solid"/>
          </a:ln>
        </p:spPr>
      </p:sp>
      <p:sp>
        <p:nvSpPr>
          <p:cNvPr id="19" name="Text 17"/>
          <p:cNvSpPr/>
          <p:nvPr/>
        </p:nvSpPr>
        <p:spPr>
          <a:xfrm>
            <a:off x="5394960" y="1828800"/>
            <a:ext cx="3291840" cy="365760"/>
          </a:xfrm>
          <a:prstGeom prst="rect">
            <a:avLst/>
          </a:prstGeom>
          <a:noFill/>
          <a:ln/>
        </p:spPr>
        <p:txBody>
          <a:bodyPr wrap="square" rtlCol="0" anchor="ctr"/>
          <a:lstStyle/>
          <a:p>
            <a:pPr algn="ctr" indent="0" marL="0">
              <a:buNone/>
            </a:pPr>
            <a:r>
              <a:rPr lang="en-US" sz="1300" b="1" dirty="0">
                <a:solidFill>
                  <a:srgbClr val="1B5E20"/>
                </a:solidFill>
                <a:latin typeface="Calibri" pitchFamily="34" charset="0"/>
                <a:ea typeface="Calibri" pitchFamily="34" charset="-122"/>
                <a:cs typeface="Calibri" pitchFamily="34" charset="-120"/>
              </a:rPr>
              <a:t>WEB2 (Serveur Central)</a:t>
            </a:r>
            <a:endParaRPr lang="en-US" sz="1300" dirty="0"/>
          </a:p>
        </p:txBody>
      </p:sp>
      <p:sp>
        <p:nvSpPr>
          <p:cNvPr id="20" name="Text 18"/>
          <p:cNvSpPr/>
          <p:nvPr/>
        </p:nvSpPr>
        <p:spPr>
          <a:xfrm>
            <a:off x="5440680" y="2240280"/>
            <a:ext cx="3200400" cy="1188720"/>
          </a:xfrm>
          <a:prstGeom prst="rect">
            <a:avLst/>
          </a:prstGeom>
          <a:noFill/>
          <a:ln/>
        </p:spPr>
        <p:txBody>
          <a:bodyPr wrap="square" rtlCol="0" anchor="ctr"/>
          <a:lstStyle/>
          <a:p>
            <a:pPr indent="0" marL="0">
              <a:buNone/>
            </a:pPr>
            <a:r>
              <a:rPr lang="en-US" sz="1150" dirty="0">
                <a:solidFill>
                  <a:srgbClr val="1A1A1A"/>
                </a:solidFill>
                <a:latin typeface="Calibri" pitchFamily="34" charset="0"/>
                <a:ea typeface="Calibri" pitchFamily="34" charset="-122"/>
                <a:cs typeface="Calibri" pitchFamily="34" charset="-120"/>
              </a:rPr>
              <a:t>• Reçoit les logs de WEB1
</a:t>
            </a:r>
            <a:pPr indent="0" marL="0">
              <a:buNone/>
            </a:pPr>
            <a:r>
              <a:rPr lang="en-US" sz="1150" dirty="0">
                <a:solidFill>
                  <a:srgbClr val="1A1A1A"/>
                </a:solidFill>
                <a:latin typeface="Calibri" pitchFamily="34" charset="0"/>
                <a:ea typeface="Calibri" pitchFamily="34" charset="-122"/>
                <a:cs typeface="Calibri" pitchFamily="34" charset="-120"/>
              </a:rPr>
              <a:t>• rsyslog stocke les logs
</a:t>
            </a:r>
            <a:pPr indent="0" marL="0">
              <a:buNone/>
            </a:pPr>
            <a:r>
              <a:rPr lang="en-US" sz="1150" dirty="0">
                <a:solidFill>
                  <a:srgbClr val="1A1A1A"/>
                </a:solidFill>
                <a:latin typeface="Calibri" pitchFamily="34" charset="0"/>
                <a:ea typeface="Calibri" pitchFamily="34" charset="-122"/>
                <a:cs typeface="Calibri" pitchFamily="34" charset="-120"/>
              </a:rPr>
              <a:t>• IP : 192.168.56.1
</a:t>
            </a:r>
            <a:pPr indent="0" marL="0">
              <a:buNone/>
            </a:pPr>
            <a:r>
              <a:rPr lang="en-US" sz="1150" dirty="0">
                <a:solidFill>
                  <a:srgbClr val="1A1A1A"/>
                </a:solidFill>
                <a:latin typeface="Calibri" pitchFamily="34" charset="0"/>
                <a:ea typeface="Calibri" pitchFamily="34" charset="-122"/>
                <a:cs typeface="Calibri" pitchFamily="34" charset="-120"/>
              </a:rPr>
              <a:t>• Port entrant : 514/UDP</a:t>
            </a:r>
            <a:endParaRPr lang="en-US" sz="1150" dirty="0"/>
          </a:p>
        </p:txBody>
      </p:sp>
      <p:sp>
        <p:nvSpPr>
          <p:cNvPr id="21" name="Text 19"/>
          <p:cNvSpPr/>
          <p:nvPr/>
        </p:nvSpPr>
        <p:spPr>
          <a:xfrm>
            <a:off x="365760" y="3703320"/>
            <a:ext cx="8412480" cy="68580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Les logs générés sur WEB1 (ex : connexions SSH, erreurs système) arrivent automatiquement sur WEB2 et sont visibles dans /var/log/syslog. On peut les lire avec tail -f ou journalctl en temps réel.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Résultats et analyse</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8</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365760"/>
          </a:xfrm>
          <a:prstGeom prst="rect">
            <a:avLst/>
          </a:prstGeom>
          <a:noFill/>
          <a:ln/>
        </p:spPr>
        <p:txBody>
          <a:bodyPr wrap="square" rtlCol="0" anchor="ctr"/>
          <a:lstStyle/>
          <a:p>
            <a:pPr indent="0" marL="0">
              <a:buNone/>
            </a:pPr>
            <a:r>
              <a:rPr lang="en-US" sz="1400" b="1" dirty="0">
                <a:solidFill>
                  <a:srgbClr val="7B2D00"/>
                </a:solidFill>
                <a:latin typeface="Calibri" pitchFamily="34" charset="0"/>
                <a:ea typeface="Calibri" pitchFamily="34" charset="-122"/>
                <a:cs typeface="Calibri" pitchFamily="34" charset="-120"/>
              </a:rPr>
              <a:t>Ce que nous avons obtenu :</a:t>
            </a:r>
            <a:endParaRPr lang="en-US" sz="1400" dirty="0"/>
          </a:p>
        </p:txBody>
      </p:sp>
      <p:sp>
        <p:nvSpPr>
          <p:cNvPr id="12" name="Text 10"/>
          <p:cNvSpPr/>
          <p:nvPr/>
        </p:nvSpPr>
        <p:spPr>
          <a:xfrm>
            <a:off x="365760" y="1691640"/>
            <a:ext cx="8412480" cy="493776"/>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 Transfert des logs réussi : </a:t>
            </a:r>
            <a:pPr indent="0" marL="0">
              <a:buNone/>
            </a:pPr>
            <a:r>
              <a:rPr lang="en-US" sz="1200" dirty="0">
                <a:solidFill>
                  <a:srgbClr val="1A1A1A"/>
                </a:solidFill>
                <a:latin typeface="Calibri" pitchFamily="34" charset="0"/>
                <a:ea typeface="Calibri" pitchFamily="34" charset="-122"/>
                <a:cs typeface="Calibri" pitchFamily="34" charset="-120"/>
              </a:rPr>
              <a:t>Les messages envoyés depuis WEB1 avec la commande logger apparaissent bien dans /var/log/syslog de WEB2 (ex : "Test log depi WEB1 ale WEB2").</a:t>
            </a:r>
            <a:endParaRPr lang="en-US" sz="1200" dirty="0"/>
          </a:p>
        </p:txBody>
      </p:sp>
      <p:sp>
        <p:nvSpPr>
          <p:cNvPr id="13" name="Text 11"/>
          <p:cNvSpPr/>
          <p:nvPr/>
        </p:nvSpPr>
        <p:spPr>
          <a:xfrm>
            <a:off x="365760" y="2240280"/>
            <a:ext cx="8412480" cy="493776"/>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 rsyslog actif et fonctionnel : </a:t>
            </a:r>
            <a:pPr indent="0" marL="0">
              <a:buNone/>
            </a:pPr>
            <a:r>
              <a:rPr lang="en-US" sz="1200" dirty="0">
                <a:solidFill>
                  <a:srgbClr val="1A1A1A"/>
                </a:solidFill>
                <a:latin typeface="Calibri" pitchFamily="34" charset="0"/>
                <a:ea typeface="Calibri" pitchFamily="34" charset="-122"/>
                <a:cs typeface="Calibri" pitchFamily="34" charset="-120"/>
              </a:rPr>
              <a:t>Le service rsyslog est actif (running) sur les deux machines. WEB1 envoie, WEB2 reçoit.</a:t>
            </a:r>
            <a:endParaRPr lang="en-US" sz="1200" dirty="0"/>
          </a:p>
        </p:txBody>
      </p:sp>
      <p:sp>
        <p:nvSpPr>
          <p:cNvPr id="14" name="Text 12"/>
          <p:cNvSpPr/>
          <p:nvPr/>
        </p:nvSpPr>
        <p:spPr>
          <a:xfrm>
            <a:off x="365760" y="2788920"/>
            <a:ext cx="8412480" cy="493776"/>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 journalctl opérationnel : </a:t>
            </a:r>
            <a:pPr indent="0" marL="0">
              <a:buNone/>
            </a:pPr>
            <a:r>
              <a:rPr lang="en-US" sz="1200" dirty="0">
                <a:solidFill>
                  <a:srgbClr val="1A1A1A"/>
                </a:solidFill>
                <a:latin typeface="Calibri" pitchFamily="34" charset="0"/>
                <a:ea typeface="Calibri" pitchFamily="34" charset="-122"/>
                <a:cs typeface="Calibri" pitchFamily="34" charset="-120"/>
              </a:rPr>
              <a:t>La commande journalctl -u ssh permet de voir tous les logs du service SSH. journalctl --since filtre par date.</a:t>
            </a:r>
            <a:endParaRPr lang="en-US" sz="1200" dirty="0"/>
          </a:p>
        </p:txBody>
      </p:sp>
      <p:sp>
        <p:nvSpPr>
          <p:cNvPr id="15" name="Text 13"/>
          <p:cNvSpPr/>
          <p:nvPr/>
        </p:nvSpPr>
        <p:spPr>
          <a:xfrm>
            <a:off x="365760" y="3337560"/>
            <a:ext cx="8412480" cy="493776"/>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 logrotate configuré : </a:t>
            </a:r>
            <a:pPr indent="0" marL="0">
              <a:buNone/>
            </a:pPr>
            <a:r>
              <a:rPr lang="en-US" sz="1200" dirty="0">
                <a:solidFill>
                  <a:srgbClr val="1A1A1A"/>
                </a:solidFill>
                <a:latin typeface="Calibri" pitchFamily="34" charset="0"/>
                <a:ea typeface="Calibri" pitchFamily="34" charset="-122"/>
                <a:cs typeface="Calibri" pitchFamily="34" charset="-120"/>
              </a:rPr>
              <a:t>La règle /etc/logrotate.d/monprojet archive les logs tous les jours et garde 7 rotations.</a:t>
            </a:r>
            <a:endParaRPr lang="en-US" sz="1200" dirty="0"/>
          </a:p>
        </p:txBody>
      </p:sp>
      <p:sp>
        <p:nvSpPr>
          <p:cNvPr id="16" name="Text 14"/>
          <p:cNvSpPr/>
          <p:nvPr/>
        </p:nvSpPr>
        <p:spPr>
          <a:xfrm>
            <a:off x="365760" y="3886200"/>
            <a:ext cx="8412480" cy="493776"/>
          </a:xfrm>
          <a:prstGeom prst="rect">
            <a:avLst/>
          </a:prstGeom>
          <a:noFill/>
          <a:ln/>
        </p:spPr>
        <p:txBody>
          <a:bodyPr wrap="square" rtlCol="0" anchor="ctr"/>
          <a:lstStyle/>
          <a:p>
            <a:pPr indent="0" marL="0">
              <a:buNone/>
            </a:pPr>
            <a:r>
              <a:rPr lang="en-US" sz="1200" b="1" dirty="0">
                <a:solidFill>
                  <a:srgbClr val="1B5E20"/>
                </a:solidFill>
                <a:latin typeface="Calibri" pitchFamily="34" charset="0"/>
                <a:ea typeface="Calibri" pitchFamily="34" charset="-122"/>
                <a:cs typeface="Calibri" pitchFamily="34" charset="-120"/>
              </a:rPr>
              <a:t>✅ Pare-feu configuré : </a:t>
            </a:r>
            <a:pPr indent="0" marL="0">
              <a:buNone/>
            </a:pPr>
            <a:r>
              <a:rPr lang="en-US" sz="1200" dirty="0">
                <a:solidFill>
                  <a:srgbClr val="1A1A1A"/>
                </a:solidFill>
                <a:latin typeface="Calibri" pitchFamily="34" charset="0"/>
                <a:ea typeface="Calibri" pitchFamily="34" charset="-122"/>
                <a:cs typeface="Calibri" pitchFamily="34" charset="-120"/>
              </a:rPr>
              <a:t>La commande sudo ufw allow 514/udp autorise bien la communication entre les deux machines.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Difficultés rencontrées</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9</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658368"/>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 Permissions logrotate : </a:t>
            </a:r>
            <a:pPr indent="0" marL="0">
              <a:buNone/>
            </a:pPr>
            <a:r>
              <a:rPr lang="en-US" sz="1200" dirty="0">
                <a:solidFill>
                  <a:srgbClr val="1A1A1A"/>
                </a:solidFill>
                <a:latin typeface="Calibri" pitchFamily="34" charset="0"/>
                <a:ea typeface="Calibri" pitchFamily="34" charset="-122"/>
                <a:cs typeface="Calibri" pitchFamily="34" charset="-120"/>
              </a:rPr>
              <a:t>Un message d'erreur apparaissait : "skipping /var/log/auth.log because parent directory has insecure permissions". Solution : corriger les permissions avec sudo chmod 755 /var/log.</a:t>
            </a:r>
            <a:endParaRPr lang="en-US" sz="1200" dirty="0"/>
          </a:p>
        </p:txBody>
      </p:sp>
      <p:sp>
        <p:nvSpPr>
          <p:cNvPr id="12" name="Text 10"/>
          <p:cNvSpPr/>
          <p:nvPr/>
        </p:nvSpPr>
        <p:spPr>
          <a:xfrm>
            <a:off x="365760" y="1984248"/>
            <a:ext cx="8412480" cy="658368"/>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 Communication entre les VMs : </a:t>
            </a:r>
            <a:pPr indent="0" marL="0">
              <a:buNone/>
            </a:pPr>
            <a:r>
              <a:rPr lang="en-US" sz="1200" dirty="0">
                <a:solidFill>
                  <a:srgbClr val="1A1A1A"/>
                </a:solidFill>
                <a:latin typeface="Calibri" pitchFamily="34" charset="0"/>
                <a:ea typeface="Calibri" pitchFamily="34" charset="-122"/>
                <a:cs typeface="Calibri" pitchFamily="34" charset="-120"/>
              </a:rPr>
              <a:t>Au début, WEB1 ne pouvait pas envoyer ses logs à WEB2. Il fallait d'abord ouvrir le port 514/UDP dans le pare-feu avec sudo ufw allow 514/udp.</a:t>
            </a:r>
            <a:endParaRPr lang="en-US" sz="1200" dirty="0"/>
          </a:p>
        </p:txBody>
      </p:sp>
      <p:sp>
        <p:nvSpPr>
          <p:cNvPr id="13" name="Text 11"/>
          <p:cNvSpPr/>
          <p:nvPr/>
        </p:nvSpPr>
        <p:spPr>
          <a:xfrm>
            <a:off x="365760" y="2734056"/>
            <a:ext cx="8412480" cy="658368"/>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 Redémarrage de rsyslog : </a:t>
            </a:r>
            <a:pPr indent="0" marL="0">
              <a:buNone/>
            </a:pPr>
            <a:r>
              <a:rPr lang="en-US" sz="1200" dirty="0">
                <a:solidFill>
                  <a:srgbClr val="1A1A1A"/>
                </a:solidFill>
                <a:latin typeface="Calibri" pitchFamily="34" charset="0"/>
                <a:ea typeface="Calibri" pitchFamily="34" charset="-122"/>
                <a:cs typeface="Calibri" pitchFamily="34" charset="-120"/>
              </a:rPr>
              <a:t>Après chaque modification du fichier de configuration, il faut toujours redémarrer rsyslog avec sudo systemctl restart rsyslog pour que les changements soient pris en compte.</a:t>
            </a:r>
            <a:endParaRPr lang="en-US" sz="1200" dirty="0"/>
          </a:p>
        </p:txBody>
      </p:sp>
      <p:sp>
        <p:nvSpPr>
          <p:cNvPr id="14" name="Text 12"/>
          <p:cNvSpPr/>
          <p:nvPr/>
        </p:nvSpPr>
        <p:spPr>
          <a:xfrm>
            <a:off x="365760" y="3483864"/>
            <a:ext cx="8412480" cy="658368"/>
          </a:xfrm>
          <a:prstGeom prst="rect">
            <a:avLst/>
          </a:prstGeom>
          <a:noFill/>
          <a:ln/>
        </p:spPr>
        <p:txBody>
          <a:bodyPr wrap="square" rtlCol="0" anchor="ctr"/>
          <a:lstStyle/>
          <a:p>
            <a:pPr indent="0" marL="0">
              <a:buNone/>
            </a:pPr>
            <a:r>
              <a:rPr lang="en-US" sz="1200" b="1" dirty="0">
                <a:solidFill>
                  <a:srgbClr val="7B2D00"/>
                </a:solidFill>
                <a:latin typeface="Calibri" pitchFamily="34" charset="0"/>
                <a:ea typeface="Calibri" pitchFamily="34" charset="-122"/>
                <a:cs typeface="Calibri" pitchFamily="34" charset="-120"/>
              </a:rPr>
              <a:t>⚠ Vérification du transfert : </a:t>
            </a:r>
            <a:pPr indent="0" marL="0">
              <a:buNone/>
            </a:pPr>
            <a:r>
              <a:rPr lang="en-US" sz="1200" dirty="0">
                <a:solidFill>
                  <a:srgbClr val="1A1A1A"/>
                </a:solidFill>
                <a:latin typeface="Calibri" pitchFamily="34" charset="0"/>
                <a:ea typeface="Calibri" pitchFamily="34" charset="-122"/>
                <a:cs typeface="Calibri" pitchFamily="34" charset="-120"/>
              </a:rPr>
              <a:t>Pour confirmer que les logs arrivent bien, on utilise la commande logger sur WEB1 et on surveille en temps réel sur WEB2 avec tail -f /var/log/syslog.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274320" y="137160"/>
            <a:ext cx="8595360" cy="731520"/>
          </a:xfrm>
          <a:prstGeom prst="rect">
            <a:avLst/>
          </a:prstGeom>
          <a:noFill/>
          <a:ln/>
        </p:spPr>
        <p:txBody>
          <a:bodyPr wrap="square" rtlCol="0" anchor="ctr"/>
          <a:lstStyle/>
          <a:p>
            <a:pPr algn="ctr" indent="0" marL="0">
              <a:buNone/>
            </a:pPr>
            <a:r>
              <a:rPr lang="en-US" sz="2800" b="1" dirty="0">
                <a:solidFill>
                  <a:srgbClr val="1A1A1A"/>
                </a:solidFill>
                <a:latin typeface="Calibri" pitchFamily="34" charset="0"/>
                <a:ea typeface="Calibri" pitchFamily="34" charset="-122"/>
                <a:cs typeface="Calibri" pitchFamily="34" charset="-120"/>
              </a:rPr>
              <a:t>Conclusion</a:t>
            </a:r>
            <a:endParaRPr lang="en-US" sz="2800" dirty="0"/>
          </a:p>
        </p:txBody>
      </p:sp>
      <p:sp>
        <p:nvSpPr>
          <p:cNvPr id="4" name="Shape 2"/>
          <p:cNvSpPr/>
          <p:nvPr/>
        </p:nvSpPr>
        <p:spPr>
          <a:xfrm>
            <a:off x="274320" y="1097280"/>
            <a:ext cx="8595360" cy="0"/>
          </a:xfrm>
          <a:prstGeom prst="line">
            <a:avLst/>
          </a:prstGeom>
          <a:noFill/>
          <a:ln w="12700">
            <a:solidFill>
              <a:srgbClr val="CCCCCC"/>
            </a:solidFill>
            <a:prstDash val="solid"/>
          </a:ln>
        </p:spPr>
      </p:sp>
      <p:sp>
        <p:nvSpPr>
          <p:cNvPr id="5" name="Shape 3"/>
          <p:cNvSpPr/>
          <p:nvPr/>
        </p:nvSpPr>
        <p:spPr>
          <a:xfrm>
            <a:off x="0" y="4754880"/>
            <a:ext cx="9144000" cy="388620"/>
          </a:xfrm>
          <a:prstGeom prst="rect">
            <a:avLst/>
          </a:prstGeom>
          <a:solidFill>
            <a:srgbClr val="7B2D00"/>
          </a:solidFill>
          <a:ln w="12700">
            <a:solidFill>
              <a:srgbClr val="7B2D00"/>
            </a:solidFill>
            <a:prstDash val="solid"/>
          </a:ln>
        </p:spPr>
      </p:sp>
      <p:sp>
        <p:nvSpPr>
          <p:cNvPr id="6" name="Text 4"/>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7" name="Text 5"/>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8" name="Shape 6"/>
          <p:cNvSpPr/>
          <p:nvPr/>
        </p:nvSpPr>
        <p:spPr>
          <a:xfrm>
            <a:off x="8046720" y="4114800"/>
            <a:ext cx="822960" cy="548640"/>
          </a:xfrm>
          <a:prstGeom prst="rect">
            <a:avLst/>
          </a:prstGeom>
          <a:solidFill>
            <a:srgbClr val="1A5276"/>
          </a:solidFill>
          <a:ln w="12700">
            <a:solidFill>
              <a:srgbClr val="1A5276"/>
            </a:solidFill>
            <a:prstDash val="solid"/>
          </a:ln>
        </p:spPr>
      </p:sp>
      <p:sp>
        <p:nvSpPr>
          <p:cNvPr id="9" name="Text 7"/>
          <p:cNvSpPr/>
          <p:nvPr/>
        </p:nvSpPr>
        <p:spPr>
          <a:xfrm>
            <a:off x="8046720" y="4160520"/>
            <a:ext cx="822960" cy="2286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IUS</a:t>
            </a:r>
            <a:endParaRPr lang="en-US" sz="1100" dirty="0"/>
          </a:p>
        </p:txBody>
      </p:sp>
      <p:sp>
        <p:nvSpPr>
          <p:cNvPr id="10" name="Text 8"/>
          <p:cNvSpPr/>
          <p:nvPr/>
        </p:nvSpPr>
        <p:spPr>
          <a:xfrm>
            <a:off x="7882128" y="3977640"/>
            <a:ext cx="1097280" cy="457200"/>
          </a:xfrm>
          <a:prstGeom prst="rect">
            <a:avLst/>
          </a:prstGeom>
          <a:noFill/>
          <a:ln/>
        </p:spPr>
        <p:txBody>
          <a:bodyPr wrap="square" rtlCol="0" anchor="ctr"/>
          <a:lstStyle/>
          <a:p>
            <a:pPr algn="ctr" indent="0" marL="0">
              <a:buNone/>
            </a:pPr>
            <a:r>
              <a:rPr lang="en-US" sz="600" dirty="0">
                <a:solidFill>
                  <a:srgbClr val="1A5276"/>
                </a:solidFill>
                <a:latin typeface="Calibri" pitchFamily="34" charset="0"/>
                <a:ea typeface="Calibri" pitchFamily="34" charset="-122"/>
                <a:cs typeface="Calibri" pitchFamily="34" charset="-120"/>
              </a:rPr>
              <a:t>Institut</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Universitaire</a:t>
            </a:r>
            <a:endParaRPr lang="en-US" sz="600" dirty="0"/>
          </a:p>
          <a:p>
            <a:pPr algn="ctr" indent="0" marL="0">
              <a:buNone/>
            </a:pPr>
            <a:r>
              <a:rPr lang="en-US" sz="600" dirty="0">
                <a:solidFill>
                  <a:srgbClr val="1A5276"/>
                </a:solidFill>
                <a:latin typeface="Calibri" pitchFamily="34" charset="0"/>
                <a:ea typeface="Calibri" pitchFamily="34" charset="-122"/>
                <a:cs typeface="Calibri" pitchFamily="34" charset="-120"/>
              </a:rPr>
              <a:t>des Sciences</a:t>
            </a:r>
            <a:endParaRPr lang="en-US" sz="600" dirty="0"/>
          </a:p>
        </p:txBody>
      </p:sp>
      <p:sp>
        <p:nvSpPr>
          <p:cNvPr id="11" name="Text 9"/>
          <p:cNvSpPr/>
          <p:nvPr/>
        </p:nvSpPr>
        <p:spPr>
          <a:xfrm>
            <a:off x="365760" y="1234440"/>
            <a:ext cx="8412480" cy="5943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Ce projet de supervision et gestion des logs nous a permis de mettre en pratique des compétences importantes en administration de systèmes Linux.</a:t>
            </a:r>
            <a:endParaRPr lang="en-US" sz="1300" dirty="0"/>
          </a:p>
        </p:txBody>
      </p:sp>
      <p:sp>
        <p:nvSpPr>
          <p:cNvPr id="12" name="Text 10"/>
          <p:cNvSpPr/>
          <p:nvPr/>
        </p:nvSpPr>
        <p:spPr>
          <a:xfrm>
            <a:off x="365760" y="1874520"/>
            <a:ext cx="8412480" cy="8686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Grâce à la configuration de rsyslog, journalctl et logrotate sur deux machines Ubuntu connectées en réseau, nous avons réussi à centraliser les logs de WEB1 vers WEB2. Ce système permet de voir en temps réel ce qui se passe sur les deux machines, de détecter les erreurs rapidement et de garder une trace de toutes les activités.</a:t>
            </a:r>
            <a:endParaRPr lang="en-US" sz="1300" dirty="0"/>
          </a:p>
        </p:txBody>
      </p:sp>
      <p:sp>
        <p:nvSpPr>
          <p:cNvPr id="13" name="Text 11"/>
          <p:cNvSpPr/>
          <p:nvPr/>
        </p:nvSpPr>
        <p:spPr>
          <a:xfrm>
            <a:off x="365760" y="2834640"/>
            <a:ext cx="8412480" cy="77724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Ce projet nous montre que la gestion des logs est une compétence essentielle pour tout administrateur système. Elle permet de protéger les serveurs, de trouver les pannes rapidement et de répondre aux besoins de sécurité et de suivi dans une vraie entreprise.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E8E2"/>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4A896"/>
          </a:solidFill>
          <a:ln w="12700">
            <a:solidFill>
              <a:srgbClr val="F4A896"/>
            </a:solidFill>
            <a:prstDash val="solid"/>
          </a:ln>
        </p:spPr>
      </p:sp>
      <p:sp>
        <p:nvSpPr>
          <p:cNvPr id="3" name="Text 1"/>
          <p:cNvSpPr/>
          <p:nvPr/>
        </p:nvSpPr>
        <p:spPr>
          <a:xfrm>
            <a:off x="914400" y="1920240"/>
            <a:ext cx="7315200" cy="914400"/>
          </a:xfrm>
          <a:prstGeom prst="rect">
            <a:avLst/>
          </a:prstGeom>
          <a:noFill/>
          <a:ln/>
        </p:spPr>
        <p:txBody>
          <a:bodyPr wrap="square" rtlCol="0" anchor="ctr"/>
          <a:lstStyle/>
          <a:p>
            <a:pPr algn="ctr" indent="0" marL="0">
              <a:buNone/>
            </a:pPr>
            <a:r>
              <a:rPr lang="en-US" sz="3400" dirty="0">
                <a:solidFill>
                  <a:srgbClr val="1A1A1A"/>
                </a:solidFill>
                <a:latin typeface="Calibri" pitchFamily="34" charset="0"/>
                <a:ea typeface="Calibri" pitchFamily="34" charset="-122"/>
                <a:cs typeface="Calibri" pitchFamily="34" charset="-120"/>
              </a:rPr>
              <a:t>Merci pour votre attention !</a:t>
            </a:r>
            <a:endParaRPr lang="en-US" sz="3400" dirty="0"/>
          </a:p>
        </p:txBody>
      </p:sp>
      <p:sp>
        <p:nvSpPr>
          <p:cNvPr id="4" name="Shape 2"/>
          <p:cNvSpPr/>
          <p:nvPr/>
        </p:nvSpPr>
        <p:spPr>
          <a:xfrm>
            <a:off x="0" y="4754880"/>
            <a:ext cx="9144000" cy="388620"/>
          </a:xfrm>
          <a:prstGeom prst="rect">
            <a:avLst/>
          </a:prstGeom>
          <a:solidFill>
            <a:srgbClr val="7B2D00"/>
          </a:solidFill>
          <a:ln w="12700">
            <a:solidFill>
              <a:srgbClr val="7B2D00"/>
            </a:solidFill>
            <a:prstDash val="solid"/>
          </a:ln>
        </p:spPr>
      </p:sp>
      <p:sp>
        <p:nvSpPr>
          <p:cNvPr id="5" name="Text 3"/>
          <p:cNvSpPr/>
          <p:nvPr/>
        </p:nvSpPr>
        <p:spPr>
          <a:xfrm>
            <a:off x="182880" y="4773168"/>
            <a:ext cx="1828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5/18/2026</a:t>
            </a:r>
            <a:endParaRPr lang="en-US" sz="1000" dirty="0"/>
          </a:p>
        </p:txBody>
      </p:sp>
      <p:sp>
        <p:nvSpPr>
          <p:cNvPr id="6" name="Text 4"/>
          <p:cNvSpPr/>
          <p:nvPr/>
        </p:nvSpPr>
        <p:spPr>
          <a:xfrm>
            <a:off x="7772400" y="4773168"/>
            <a:ext cx="118872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8046720" y="4023360"/>
            <a:ext cx="822960" cy="640080"/>
          </a:xfrm>
          <a:prstGeom prst="rect">
            <a:avLst/>
          </a:prstGeom>
          <a:solidFill>
            <a:srgbClr val="1A5276"/>
          </a:solidFill>
          <a:ln w="12700">
            <a:solidFill>
              <a:srgbClr val="1A5276"/>
            </a:solidFill>
            <a:prstDash val="solid"/>
          </a:ln>
        </p:spPr>
      </p:sp>
      <p:sp>
        <p:nvSpPr>
          <p:cNvPr id="8" name="Text 6"/>
          <p:cNvSpPr/>
          <p:nvPr/>
        </p:nvSpPr>
        <p:spPr>
          <a:xfrm>
            <a:off x="8046720" y="4114800"/>
            <a:ext cx="82296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IUS</a:t>
            </a:r>
            <a:endParaRPr lang="en-US" sz="1300" dirty="0"/>
          </a:p>
        </p:txBody>
      </p:sp>
      <p:sp>
        <p:nvSpPr>
          <p:cNvPr id="9" name="Text 7"/>
          <p:cNvSpPr/>
          <p:nvPr/>
        </p:nvSpPr>
        <p:spPr>
          <a:xfrm>
            <a:off x="7589520" y="3950208"/>
            <a:ext cx="1371600" cy="411480"/>
          </a:xfrm>
          <a:prstGeom prst="rect">
            <a:avLst/>
          </a:prstGeom>
          <a:noFill/>
          <a:ln/>
        </p:spPr>
        <p:txBody>
          <a:bodyPr wrap="square" rtlCol="0" anchor="ctr"/>
          <a:lstStyle/>
          <a:p>
            <a:pPr algn="ctr" indent="0" marL="0">
              <a:buNone/>
            </a:pPr>
            <a:r>
              <a:rPr lang="en-US" sz="550" dirty="0">
                <a:solidFill>
                  <a:srgbClr val="1A5276"/>
                </a:solidFill>
                <a:latin typeface="Calibri" pitchFamily="34" charset="0"/>
                <a:ea typeface="Calibri" pitchFamily="34" charset="-122"/>
                <a:cs typeface="Calibri" pitchFamily="34" charset="-120"/>
              </a:rPr>
              <a:t>Institut Universitaire des Sciences</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Supervision et Gestion des Logs</dc:title>
  <dc:subject>PptxGenJS Presentation</dc:subject>
  <dc:creator>PptxGenJS</dc:creator>
  <cp:lastModifiedBy>PptxGenJS</cp:lastModifiedBy>
  <cp:revision>1</cp:revision>
  <dcterms:created xsi:type="dcterms:W3CDTF">2026-05-18T23:30:23Z</dcterms:created>
  <dcterms:modified xsi:type="dcterms:W3CDTF">2026-05-18T23:30:23Z</dcterms:modified>
</cp:coreProperties>
</file>